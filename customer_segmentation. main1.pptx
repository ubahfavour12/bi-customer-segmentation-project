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B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92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6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59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679254"/>
            <a:ext cx="3200400" cy="3200400"/>
          </a:xfrm>
          <a:prstGeom prst="ellipse">
            <a:avLst/>
          </a:prstGeom>
          <a:solidFill>
            <a:srgbClr val="0D8B8B">
              <a:alpha val="20000"/>
            </a:srgbClr>
          </a:solidFill>
          <a:ln w="12700">
            <a:solidFill>
              <a:srgbClr val="0D8B8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25301" y="-294867"/>
            <a:ext cx="2011680" cy="201168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2028" y="1152819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41732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A764F4-351D-1EDB-3CE5-DF5EE8D002EC}"/>
              </a:ext>
            </a:extLst>
          </p:cNvPr>
          <p:cNvSpPr txBox="1"/>
          <p:nvPr/>
        </p:nvSpPr>
        <p:spPr>
          <a:xfrm>
            <a:off x="224227" y="645849"/>
            <a:ext cx="84625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Business Intelligence and Data Mining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DDE55D-0053-8E0F-9C07-94E77422E056}"/>
              </a:ext>
            </a:extLst>
          </p:cNvPr>
          <p:cNvSpPr txBox="1"/>
          <p:nvPr/>
        </p:nvSpPr>
        <p:spPr>
          <a:xfrm>
            <a:off x="1504784" y="2988273"/>
            <a:ext cx="15167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Dr Kamran Soomro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E40866-F1FC-01FE-F882-82002B7DB13B}"/>
              </a:ext>
            </a:extLst>
          </p:cNvPr>
          <p:cNvSpPr txBox="1"/>
          <p:nvPr/>
        </p:nvSpPr>
        <p:spPr>
          <a:xfrm>
            <a:off x="156640" y="2970735"/>
            <a:ext cx="15167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Module Leader: </a:t>
            </a:r>
            <a:endParaRPr lang="en-GB" sz="1200" dirty="0">
              <a:solidFill>
                <a:schemeClr val="bg1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16AB98-0AE9-A7AF-63BD-39ED498174C9}"/>
              </a:ext>
            </a:extLst>
          </p:cNvPr>
          <p:cNvSpPr txBox="1"/>
          <p:nvPr/>
        </p:nvSpPr>
        <p:spPr>
          <a:xfrm>
            <a:off x="164592" y="3276014"/>
            <a:ext cx="11314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latin typeface="Georgia" panose="02040502050405020303" pitchFamily="18" charset="0"/>
              </a:rPr>
              <a:t>Group 02 </a:t>
            </a:r>
            <a:r>
              <a:rPr lang="en-GB" sz="1200" b="1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 </a:t>
            </a:r>
            <a:endParaRPr lang="en-GB" sz="1200" dirty="0">
              <a:solidFill>
                <a:schemeClr val="bg1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C11967-C675-4D3F-002C-942573CE16DA}"/>
              </a:ext>
            </a:extLst>
          </p:cNvPr>
          <p:cNvSpPr txBox="1"/>
          <p:nvPr/>
        </p:nvSpPr>
        <p:spPr>
          <a:xfrm>
            <a:off x="164592" y="3660420"/>
            <a:ext cx="17572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Ahmed Hijazi (23019052)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FD363A-E3DB-934F-896A-BFC1590050BB}"/>
              </a:ext>
            </a:extLst>
          </p:cNvPr>
          <p:cNvSpPr txBox="1"/>
          <p:nvPr/>
        </p:nvSpPr>
        <p:spPr>
          <a:xfrm>
            <a:off x="164592" y="3488974"/>
            <a:ext cx="25066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Favour Ubah (22068179)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4B22EC-B4F3-5B2B-F2D6-B78836F43802}"/>
              </a:ext>
            </a:extLst>
          </p:cNvPr>
          <p:cNvSpPr txBox="1"/>
          <p:nvPr/>
        </p:nvSpPr>
        <p:spPr>
          <a:xfrm>
            <a:off x="164592" y="3823821"/>
            <a:ext cx="51842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Muhammad Sarib Ibrahim (25055716)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172C41-3AFC-A00E-A49C-CFB769E73EA8}"/>
              </a:ext>
            </a:extLst>
          </p:cNvPr>
          <p:cNvSpPr txBox="1"/>
          <p:nvPr/>
        </p:nvSpPr>
        <p:spPr>
          <a:xfrm>
            <a:off x="164592" y="3990601"/>
            <a:ext cx="2377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Amjad Ali(23063853)</a:t>
            </a:r>
          </a:p>
        </p:txBody>
      </p:sp>
      <p:pic>
        <p:nvPicPr>
          <p:cNvPr id="12" name="Picture 11" descr="A red sign with white text&#10;&#10;Description automatically generated">
            <a:extLst>
              <a:ext uri="{FF2B5EF4-FFF2-40B4-BE49-F238E27FC236}">
                <a16:creationId xmlns:a16="http://schemas.microsoft.com/office/drawing/2014/main" id="{F651CB9B-3C5E-F5E6-6C6F-3B64F071A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-1621"/>
            <a:ext cx="1296063" cy="6324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78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562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6334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RFM Engineering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502920" cy="50292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364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4107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Methodology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1005840"/>
            <a:ext cx="502920" cy="50292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23560" y="10789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&amp; Insights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1783080"/>
            <a:ext cx="502920" cy="50292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0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18562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Recommendations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2560320"/>
            <a:ext cx="502920" cy="50292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0" y="2587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26334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Ethical Considerations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78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customers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no structured method to understand purchasing behaviour.
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marketing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wastes resources on customers unlikely to respond.
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Inefficient campaigns, missed revenue opportunities.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31920" cy="41148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978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Our 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4630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from mass marketing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targeted strategy.
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machine learning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transactional data.
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distinct segments based on purchasing behaviour for personalised marketing &amp; increased revenue.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13716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541,909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41448" y="1005840"/>
            <a:ext cx="1920240" cy="13716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41448" y="1051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41448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cleaning)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08576" y="1005840"/>
            <a:ext cx="1920240" cy="13716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08576" y="1051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2010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Dec 2011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8576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75704" y="1005840"/>
            <a:ext cx="1920240" cy="137160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75704" y="10515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UK-Based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75704" y="18288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8595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70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118104"/>
            <a:ext cx="91440" cy="201168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063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InvoiceNo — Transaction ID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502152"/>
            <a:ext cx="91440" cy="201168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447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StockCode — Product code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91440" cy="201168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3831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— Units purchased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70248"/>
            <a:ext cx="91440" cy="201168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2153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InvoiceDate — Transaction date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118104"/>
            <a:ext cx="91440" cy="201168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3063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UnitPrice — Price per unit (£)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502152"/>
            <a:ext cx="91440" cy="201168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0" y="34472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— Unique customer identifier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886200"/>
            <a:ext cx="91440" cy="201168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383133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— Customer location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RFM Feature Engineering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Steps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91440" cy="68580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62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missing CustomerIDs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550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of records had no CustomerID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30552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130552"/>
            <a:ext cx="91440" cy="68580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67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negative quantities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4597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represent product returns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35224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935224"/>
            <a:ext cx="91440" cy="68580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invalid prices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64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Zero/negative UnitPrice excluded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739896"/>
            <a:ext cx="4023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739896"/>
            <a:ext cx="91440" cy="68580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776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397,884 → 4,338 customers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usable dataset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Metrics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32588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83480" y="1508760"/>
            <a:ext cx="594360" cy="5943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715000" y="1435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15000" y="1801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purchase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42316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983480" y="2606040"/>
            <a:ext cx="594360" cy="5943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715000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715000" y="2898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purchases made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352044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83480" y="3703320"/>
            <a:ext cx="594360" cy="594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3703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715000" y="3630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715000" y="3995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spent (£)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4608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Methodology: K-Means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749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749040" cy="384048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K-Means?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for 4,000+ customer records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clear, interpretable segments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numerical RFM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approach suits RFM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Considered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Rejected: density-based, sensitive to parameters
</a:t>
            </a: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Rejected: too computationally expensive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Optimal 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1417320"/>
            <a:ext cx="374904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783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bend at K=4 — diminishing returns after this point in inertia reduction.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770632"/>
            <a:ext cx="374904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1363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achieves silhouette score of 0.3371 — well-separated and cohesive clusters.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914400"/>
            <a:ext cx="1005840" cy="10058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0" y="914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distinct groups identified from RFM clustering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1234440"/>
            <a:ext cx="2011680" cy="356616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0116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234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" y="17556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212848"/>
            <a:ext cx="914400" cy="502920"/>
          </a:xfrm>
          <a:prstGeom prst="ellipse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716 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days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703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922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£8,074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41448" y="1234440"/>
            <a:ext cx="2011680" cy="356616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41448" y="1234440"/>
            <a:ext cx="201168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41448" y="1234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14600" y="17556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90088" y="2212848"/>
            <a:ext cx="914400" cy="502920"/>
          </a:xfrm>
          <a:prstGeom prst="ellipse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90088" y="22128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32888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1,173 customers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32888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32888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days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32888" y="3703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32888" y="3922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32888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32888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£1,803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54296" y="1234440"/>
            <a:ext cx="2011680" cy="356616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54296" y="1234440"/>
            <a:ext cx="201168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54296" y="1234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27448" y="17556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202936" y="2212848"/>
            <a:ext cx="914400" cy="502920"/>
          </a:xfrm>
          <a:prstGeom prst="ellipse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02936" y="22128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45736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837 customers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45736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45736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days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45736" y="3703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3922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2.2x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745736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45736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£552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67144" y="1234440"/>
            <a:ext cx="2011680" cy="3566160"/>
          </a:xfrm>
          <a:prstGeom prst="rect">
            <a:avLst/>
          </a:prstGeom>
          <a:solidFill>
            <a:srgbClr val="FFFFFF">
              <a:alpha val="92000"/>
            </a:srgbClr>
          </a:solidFill>
          <a:ln w="254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867144" y="1234440"/>
            <a:ext cx="201168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67144" y="1234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940296" y="17556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Low-Value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415784" y="2212848"/>
            <a:ext cx="914400" cy="502920"/>
          </a:xfrm>
          <a:prstGeom prst="ellipse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15784" y="22128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37.2%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958584" y="2807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1,612 customers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958584" y="3200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58584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 days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58584" y="3703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58584" y="3922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1.3x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58584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58584" y="4425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£343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972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 &amp; exclusive early access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847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premium products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249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referrals — brand advocates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109728" cy="1828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10328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to increase avg. order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847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product recommendations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10328" y="2249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loyalty rewards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109728" cy="1828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" y="3410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emails with personalised discounts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" y="3813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to understand disengagement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4215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Time-limited offers to create urgency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109728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0328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Low-Value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10328" y="34107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series &amp; intro offers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0328" y="3813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on full product range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0328" y="4215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nurture via social &amp; content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Ethical Considerations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84048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Evaluation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0.3371 — reasonable cluster separation for real-world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414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3,938.51 — elbow confirmed K=4 as optimal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825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Sizes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118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716 to 1,612 customers across 4 segments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snapshot; no demographic data; assumes convex clusters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Privacy Considerations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Bias Risk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7099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patterns may correlate with socioeconomic status — requires monitoring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of Outcomes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414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segments must receive engagement, not just high-value ones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8254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118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data is personal data under UK GDPR; lawful basis required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Re-identification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transaction records can uniquely identify individuals (de Montjoye, 2015)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D8B8B">
              <a:alpha val="15000"/>
            </a:srgbClr>
          </a:solidFill>
          <a:ln w="12700">
            <a:solidFill>
              <a:srgbClr val="0D8B8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9144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6984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541,909 records  </a:t>
            </a: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engineered into meaningful RFM features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9144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with K=4  </a:t>
            </a: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Elbow Method and Silhouette Score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523744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9144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587752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actionable segments  </a:t>
            </a: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Champions, Loyal, At-Risk, and New/Low-Value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82696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282696"/>
            <a:ext cx="9144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346704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strategies  </a:t>
            </a: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per segment to maximise ROI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91440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105656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deployment  </a:t>
            </a: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GDPR-compliant with fairness considerations addressed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7200" y="4727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FE908C-5586-99F6-730A-53D0F0716962}"/>
              </a:ext>
            </a:extLst>
          </p:cNvPr>
          <p:cNvSpPr txBox="1"/>
          <p:nvPr/>
        </p:nvSpPr>
        <p:spPr>
          <a:xfrm>
            <a:off x="0" y="780301"/>
            <a:ext cx="9144000" cy="23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GB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Achievements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Data: Cleaned &gt;500k records &amp; engineered RFM features.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Modelled Segments: Applied validated K-Means to identify 4 actionable customer segments.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Delivered Value: Provided ROI-backed marketing recommendations.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8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Ensured Compliance: Evaluated ethical and privacy implications.</a:t>
            </a:r>
          </a:p>
        </p:txBody>
      </p:sp>
      <p:sp>
        <p:nvSpPr>
          <p:cNvPr id="8" name="Shape 18">
            <a:extLst>
              <a:ext uri="{FF2B5EF4-FFF2-40B4-BE49-F238E27FC236}">
                <a16:creationId xmlns:a16="http://schemas.microsoft.com/office/drawing/2014/main" id="{87DFB1B0-7DAB-E4C6-5ED7-221041A8DD87}"/>
              </a:ext>
            </a:extLst>
          </p:cNvPr>
          <p:cNvSpPr/>
          <p:nvPr/>
        </p:nvSpPr>
        <p:spPr>
          <a:xfrm>
            <a:off x="0" y="0"/>
            <a:ext cx="9144000" cy="546538"/>
          </a:xfrm>
          <a:prstGeom prst="rect">
            <a:avLst/>
          </a:prstGeom>
          <a:solidFill>
            <a:srgbClr val="0D8B8B"/>
          </a:solidFill>
          <a:ln w="12700">
            <a:solidFill>
              <a:srgbClr val="0D8B8B"/>
            </a:solidFill>
            <a:prstDash val="solid"/>
          </a:ln>
        </p:spPr>
        <p:txBody>
          <a:bodyPr/>
          <a:lstStyle/>
          <a:p>
            <a:r>
              <a:rPr lang="en-GB" sz="2800" b="1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GB" dirty="0">
                <a:effectLst/>
              </a:rPr>
              <a:t>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85812-7A4F-7048-6080-F003AAE0FC8E}"/>
              </a:ext>
            </a:extLst>
          </p:cNvPr>
          <p:cNvSpPr txBox="1"/>
          <p:nvPr/>
        </p:nvSpPr>
        <p:spPr>
          <a:xfrm>
            <a:off x="2036379" y="4774168"/>
            <a:ext cx="4619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94929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722</Words>
  <Application>Microsoft Office PowerPoint</Application>
  <PresentationFormat>On-screen Show (16:9)</PresentationFormat>
  <Paragraphs>186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Analysis</dc:title>
  <dc:subject>PptxGenJS Presentation</dc:subject>
  <dc:creator>PptxGenJS</dc:creator>
  <cp:lastModifiedBy>Favour Ubah (Student)</cp:lastModifiedBy>
  <cp:revision>10</cp:revision>
  <dcterms:created xsi:type="dcterms:W3CDTF">2026-03-23T15:06:28Z</dcterms:created>
  <dcterms:modified xsi:type="dcterms:W3CDTF">2026-03-26T10:32:44Z</dcterms:modified>
</cp:coreProperties>
</file>